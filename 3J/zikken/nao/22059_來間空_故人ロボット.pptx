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59" r:id="rId4"/>
    <p:sldId id="260" r:id="rId5"/>
    <p:sldId id="261" r:id="rId6"/>
    <p:sldId id="264" r:id="rId7"/>
    <p:sldId id="265" r:id="rId8"/>
    <p:sldId id="263" r:id="rId9"/>
    <p:sldId id="257" r:id="rId1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9937AC-DD26-B944-852F-6561F48AB0D2}" v="33" dt="2024-12-09T07:16:35.9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598" autoAdjust="0"/>
    <p:restoredTop sz="94650"/>
  </p:normalViewPr>
  <p:slideViewPr>
    <p:cSldViewPr snapToGrid="0">
      <p:cViewPr>
        <p:scale>
          <a:sx n="106" d="100"/>
          <a:sy n="106" d="100"/>
        </p:scale>
        <p:origin x="912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86DB02-FB53-4647-8B82-24AC90FA4609}" type="datetimeFigureOut">
              <a:rPr kumimoji="1" lang="ja-JP" altLang="en-US" smtClean="0"/>
              <a:t>2024/12/9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1DBAB1-03B3-AB4A-9C4B-586767158A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1966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1DBAB1-03B3-AB4A-9C4B-586767158A52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875703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7A3FDE-7DF6-57EA-F00D-343072214E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19AE17B-7278-48B4-77D9-913904329E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1D142FC-953C-48CC-20C4-A1731822F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28DF5-8090-420E-ADAA-CBDCFB1C605A}" type="datetimeFigureOut">
              <a:rPr kumimoji="1" lang="ja-JP" altLang="en-US" smtClean="0"/>
              <a:t>2024/12/4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814D3C9-887D-BDAD-4749-D1AC587C4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7837CF5-C3E9-3B82-0129-4346A70A5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2EFE3-1F6F-40B0-A8A9-6395163D3C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97889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F63BFFF-B141-78E3-4090-F278FFBD3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90412E4-2CAF-1E3E-77C3-075A885969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50B1984-32BC-F2E7-E8BA-7FC66F932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28DF5-8090-420E-ADAA-CBDCFB1C605A}" type="datetimeFigureOut">
              <a:rPr kumimoji="1" lang="ja-JP" altLang="en-US" smtClean="0"/>
              <a:t>2024/12/4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130B358-BB9B-7138-C9B2-C7CA0F73E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6E25BC4-84B8-05EB-7083-6CF732216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2EFE3-1F6F-40B0-A8A9-6395163D3C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15693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EAF395-F759-52F4-3F0D-A4339F444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7129C2E-490F-1AA4-65A6-D514267D9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25B9A58-3957-E007-7680-BC9E147D5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28DF5-8090-420E-ADAA-CBDCFB1C605A}" type="datetimeFigureOut">
              <a:rPr kumimoji="1" lang="ja-JP" altLang="en-US" smtClean="0"/>
              <a:t>2024/12/4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E8C147B-A81B-C928-E1A0-D797DE18E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4B58364-7DC9-01A1-AB4A-5837ABF13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2EFE3-1F6F-40B0-A8A9-6395163D3C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6609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025153-79DB-EA5E-B0C0-01F0CCC37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2EBF325-4A14-03C6-D1CB-9C5A57DFA9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73A00C5-B91C-8A1F-AFD2-DE99C667CD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B7679C1-32B2-3ABC-764B-6CAD94BC3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28DF5-8090-420E-ADAA-CBDCFB1C605A}" type="datetimeFigureOut">
              <a:rPr kumimoji="1" lang="ja-JP" altLang="en-US" smtClean="0"/>
              <a:t>2024/12/4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33DEDAB-8A38-499E-DC43-80D10DFB3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A4E022E-A502-2EDE-C0E5-16C66FAC0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2EFE3-1F6F-40B0-A8A9-6395163D3C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620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1DAB38-3DBB-8E8B-DC26-9A5768321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58C1C68-D17A-7255-2CA3-AFFAC8E0F1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A25AED6-684E-69EC-86C8-384127027F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759523D-18A2-7B43-6E0D-4D7BB1E849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6BCB4B3-D415-4A54-BEB2-82FA7C8493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17C6DA15-9E88-1E5E-5987-FC839D8F0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28DF5-8090-420E-ADAA-CBDCFB1C605A}" type="datetimeFigureOut">
              <a:rPr kumimoji="1" lang="ja-JP" altLang="en-US" smtClean="0"/>
              <a:t>2024/12/4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375735C-8C99-F50B-A6EF-A99B3A2BB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414F676-F0EC-E0C7-1A0D-41B0F89B3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2EFE3-1F6F-40B0-A8A9-6395163D3C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0546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417110-BEB3-286A-814E-D04896D2B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DFEBFB9-6CFC-E08A-BDC5-A46F9FC36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28DF5-8090-420E-ADAA-CBDCFB1C605A}" type="datetimeFigureOut">
              <a:rPr kumimoji="1" lang="ja-JP" altLang="en-US" smtClean="0"/>
              <a:t>2024/12/4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796A305-AD51-D77F-84BA-B692ECD6C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F68DBCE-AE17-430A-08F6-4C30A36D3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2EFE3-1F6F-40B0-A8A9-6395163D3C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9803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00BB6C0-176E-6062-8ADA-5BE5AD4DA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28DF5-8090-420E-ADAA-CBDCFB1C605A}" type="datetimeFigureOut">
              <a:rPr kumimoji="1" lang="ja-JP" altLang="en-US" smtClean="0"/>
              <a:t>2024/12/4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F8C8ECB-F087-752D-38C9-B45F7653F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859A887-9DDC-CA20-469A-3E5AA9AD6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2EFE3-1F6F-40B0-A8A9-6395163D3C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3706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EA2690-A9E2-C58E-2849-4AC1C7BE0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18C2E38-D997-4045-1A79-83DAB57093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24DD198-0712-A2F6-A997-E4CEE7052B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FA73AB3-AFDC-5EC2-1598-99B1E9FF9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28DF5-8090-420E-ADAA-CBDCFB1C605A}" type="datetimeFigureOut">
              <a:rPr kumimoji="1" lang="ja-JP" altLang="en-US" smtClean="0"/>
              <a:t>2024/12/4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65D658F-5207-42E2-575C-03BD1170C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D64313F-33D9-A144-015A-5B3404B03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2EFE3-1F6F-40B0-A8A9-6395163D3C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32028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8FA707-F884-37E3-7DEC-584750121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724F2A9-9B6F-DAAF-64CD-9165CF6C7B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E6B53B2-C8EB-9B94-DB42-1E5C1805F3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A4D3029-3297-A9AB-94D3-FED6FE811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28DF5-8090-420E-ADAA-CBDCFB1C605A}" type="datetimeFigureOut">
              <a:rPr kumimoji="1" lang="ja-JP" altLang="en-US" smtClean="0"/>
              <a:t>2024/12/4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5B691B9-5FBD-0285-9030-04818896C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3A5F4CA-540C-57BF-CBE2-4A8317370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2EFE3-1F6F-40B0-A8A9-6395163D3C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7084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FBA989-174A-2E30-DD95-7098EA586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C4C5054-6F9A-251E-2F56-5208962B0F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57F1240-A1E3-5607-A424-C79CF9DBF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28DF5-8090-420E-ADAA-CBDCFB1C605A}" type="datetimeFigureOut">
              <a:rPr kumimoji="1" lang="ja-JP" altLang="en-US" smtClean="0"/>
              <a:t>2024/12/4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A13AA81-1E0B-E729-13E2-7B79CBC1A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85E2B28-7766-D007-7A4E-8CFEF7736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2EFE3-1F6F-40B0-A8A9-6395163D3C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6690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6307AA2-0A0A-22D5-700D-7022A65B2A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3C15221-167C-4D3C-F850-E9527FDFDB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1F29B86-DE1C-7AA0-91E4-0120D95C5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28DF5-8090-420E-ADAA-CBDCFB1C605A}" type="datetimeFigureOut">
              <a:rPr kumimoji="1" lang="ja-JP" altLang="en-US" smtClean="0"/>
              <a:t>2024/12/4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FB91CAC-FC8F-346D-3C3F-42C882E51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85721CA-80C1-3855-70CD-C5EC955E9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2EFE3-1F6F-40B0-A8A9-6395163D3C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1348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AE85083-31EA-D358-F9B5-E66B6B0C6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95AF327-02B0-629D-4511-AB194DA7E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F562F2E-2CE2-F487-2BD7-5A9C8CDE57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028DF5-8090-420E-ADAA-CBDCFB1C605A}" type="datetimeFigureOut">
              <a:rPr kumimoji="1" lang="ja-JP" altLang="en-US" smtClean="0"/>
              <a:t>2024/12/4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5115F35-2ABB-5A70-580F-5D673F98E3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7CA9CD5-BD0A-F05C-1379-E2BD03BD52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B2EFE3-1F6F-40B0-A8A9-6395163D3C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8807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391179A-04C3-F3F9-FB92-D109E0301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16307"/>
            <a:ext cx="9144000" cy="2387600"/>
          </a:xfrm>
        </p:spPr>
        <p:txBody>
          <a:bodyPr/>
          <a:lstStyle/>
          <a:p>
            <a:r>
              <a:rPr lang="ja-JP" altLang="en-US"/>
              <a:t>故人再生ロボット</a:t>
            </a:r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045DB6C-B0D1-B3E5-1E5E-5E65A879FE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pPr algn="l"/>
            <a:r>
              <a:rPr kumimoji="1" lang="ja-JP" altLang="en-US"/>
              <a:t>実験日：１１月１２日（火），１１月１９日（火）</a:t>
            </a:r>
            <a:endParaRPr kumimoji="1" lang="en-US" altLang="ja-JP" dirty="0"/>
          </a:p>
          <a:p>
            <a:pPr algn="l"/>
            <a:r>
              <a:rPr kumimoji="1" lang="ja-JP" altLang="en-US"/>
              <a:t>提出日：１２月１０日（火）</a:t>
            </a:r>
            <a:endParaRPr kumimoji="1" lang="en-US" altLang="ja-JP" dirty="0"/>
          </a:p>
          <a:p>
            <a:pPr algn="l"/>
            <a:r>
              <a:rPr kumimoji="1" lang="ja-JP" altLang="en-US"/>
              <a:t>班番号：１班</a:t>
            </a:r>
            <a:endParaRPr kumimoji="1" lang="en-US" altLang="ja-JP" dirty="0"/>
          </a:p>
          <a:p>
            <a:pPr algn="l"/>
            <a:r>
              <a:rPr kumimoji="1" lang="ja-JP" altLang="en-US"/>
              <a:t>学籍番号：２２０５９</a:t>
            </a:r>
            <a:endParaRPr kumimoji="1" lang="en-US" altLang="ja-JP" dirty="0"/>
          </a:p>
          <a:p>
            <a:pPr algn="l"/>
            <a:r>
              <a:rPr kumimoji="1" lang="ja-JP" altLang="en-US"/>
              <a:t>氏名：来間空</a:t>
            </a:r>
          </a:p>
        </p:txBody>
      </p:sp>
    </p:spTree>
    <p:extLst>
      <p:ext uri="{BB962C8B-B14F-4D97-AF65-F5344CB8AC3E}">
        <p14:creationId xmlns:p14="http://schemas.microsoft.com/office/powerpoint/2010/main" val="924715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248DFD-4915-DEDA-6A81-010F35552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故人再生ロボットとは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6E2C2CD-5424-408F-5F94-5302FFD7BB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/>
              <a:t>故人（すでに亡くなった人）を忠実に再現した人間型ロボット</a:t>
            </a:r>
            <a:r>
              <a:rPr lang="ja-JP" altLang="en-US"/>
              <a:t>．</a:t>
            </a: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kumimoji="1" lang="en-US" altLang="ja-JP" dirty="0"/>
          </a:p>
        </p:txBody>
      </p:sp>
      <p:sp>
        <p:nvSpPr>
          <p:cNvPr id="5" name="円/楕円 4">
            <a:extLst>
              <a:ext uri="{FF2B5EF4-FFF2-40B4-BE49-F238E27FC236}">
                <a16:creationId xmlns:a16="http://schemas.microsoft.com/office/drawing/2014/main" id="{A381A889-D2AD-73FA-C38D-376321053841}"/>
              </a:ext>
            </a:extLst>
          </p:cNvPr>
          <p:cNvSpPr/>
          <p:nvPr/>
        </p:nvSpPr>
        <p:spPr>
          <a:xfrm>
            <a:off x="1951963" y="3706170"/>
            <a:ext cx="3813543" cy="1658679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円/楕円 5">
            <a:extLst>
              <a:ext uri="{FF2B5EF4-FFF2-40B4-BE49-F238E27FC236}">
                <a16:creationId xmlns:a16="http://schemas.microsoft.com/office/drawing/2014/main" id="{3799F3D7-B233-7A9C-2E02-DEFCD7DF80E6}"/>
              </a:ext>
            </a:extLst>
          </p:cNvPr>
          <p:cNvSpPr/>
          <p:nvPr/>
        </p:nvSpPr>
        <p:spPr>
          <a:xfrm>
            <a:off x="3990755" y="2351083"/>
            <a:ext cx="3728482" cy="1548717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円/楕円 6">
            <a:extLst>
              <a:ext uri="{FF2B5EF4-FFF2-40B4-BE49-F238E27FC236}">
                <a16:creationId xmlns:a16="http://schemas.microsoft.com/office/drawing/2014/main" id="{91D5A953-9154-4543-2D3A-9E0FA5829070}"/>
              </a:ext>
            </a:extLst>
          </p:cNvPr>
          <p:cNvSpPr/>
          <p:nvPr/>
        </p:nvSpPr>
        <p:spPr>
          <a:xfrm>
            <a:off x="5812465" y="3751534"/>
            <a:ext cx="3813543" cy="1548717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D266172-FB08-2B48-57BA-62A533705E07}"/>
              </a:ext>
            </a:extLst>
          </p:cNvPr>
          <p:cNvSpPr txBox="1"/>
          <p:nvPr/>
        </p:nvSpPr>
        <p:spPr>
          <a:xfrm>
            <a:off x="3135721" y="4261081"/>
            <a:ext cx="27192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/>
              <a:t>見た目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4EE96C3-ABB9-0925-549A-49578ECBA2D4}"/>
              </a:ext>
            </a:extLst>
          </p:cNvPr>
          <p:cNvSpPr txBox="1"/>
          <p:nvPr/>
        </p:nvSpPr>
        <p:spPr>
          <a:xfrm>
            <a:off x="5094546" y="2867033"/>
            <a:ext cx="13419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/>
              <a:t>しぐさ</a:t>
            </a:r>
            <a:endParaRPr kumimoji="1" lang="ja-JP" altLang="en-US" sz="280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C7C1A2F-385F-06AC-9495-E45972E936C5}"/>
              </a:ext>
            </a:extLst>
          </p:cNvPr>
          <p:cNvSpPr txBox="1"/>
          <p:nvPr/>
        </p:nvSpPr>
        <p:spPr>
          <a:xfrm>
            <a:off x="7379884" y="4261081"/>
            <a:ext cx="23595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/>
              <a:t>声</a:t>
            </a:r>
            <a:endParaRPr kumimoji="1" lang="en-US" altLang="ja-JP" sz="28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9B960E1-3040-3380-037D-5953993D5776}"/>
              </a:ext>
            </a:extLst>
          </p:cNvPr>
          <p:cNvSpPr txBox="1"/>
          <p:nvPr/>
        </p:nvSpPr>
        <p:spPr>
          <a:xfrm>
            <a:off x="2528776" y="5606403"/>
            <a:ext cx="76146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400" b="1"/>
              <a:t>そっくりそのまま表現する</a:t>
            </a:r>
          </a:p>
        </p:txBody>
      </p:sp>
    </p:spTree>
    <p:extLst>
      <p:ext uri="{BB962C8B-B14F-4D97-AF65-F5344CB8AC3E}">
        <p14:creationId xmlns:p14="http://schemas.microsoft.com/office/powerpoint/2010/main" val="5557890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9ADB2EA-13D0-BACD-AA28-530C73F9B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現在での類似製品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1698A4C-E8FA-875E-A733-D06F88862D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kumimoji="1" lang="ja-JP" altLang="en-US"/>
              <a:t>中国では故人と会話出来るアバターを提供するサービスがある．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en-US" altLang="ja-JP" dirty="0"/>
              <a:t>	</a:t>
            </a:r>
            <a:r>
              <a:rPr lang="ja-JP" altLang="en-US"/>
              <a:t>→</a:t>
            </a:r>
            <a:r>
              <a:rPr lang="en-US" altLang="ja-JP" dirty="0"/>
              <a:t>ChatGPT</a:t>
            </a:r>
            <a:r>
              <a:rPr lang="ja-JP" altLang="en-US"/>
              <a:t>などの対話型</a:t>
            </a:r>
            <a:r>
              <a:rPr lang="en-US" altLang="ja-JP" dirty="0"/>
              <a:t>AI</a:t>
            </a:r>
            <a:r>
              <a:rPr lang="ja-JP" altLang="en-US"/>
              <a:t>を使用</a:t>
            </a:r>
            <a:endParaRPr lang="en-US" altLang="ja-JP" dirty="0"/>
          </a:p>
          <a:p>
            <a:pPr marL="0" indent="0">
              <a:buNone/>
            </a:pPr>
            <a:r>
              <a:rPr kumimoji="1" lang="en-US" altLang="ja-JP" dirty="0"/>
              <a:t>	</a:t>
            </a:r>
            <a:r>
              <a:rPr kumimoji="1" lang="ja-JP" altLang="en-US"/>
              <a:t>→３０秒ほどの音声や画像で作成可能</a:t>
            </a: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lang="ja-JP" altLang="en-US"/>
              <a:t>しかし，今回やってみたいことは．．．</a:t>
            </a: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lang="ja-JP" altLang="en-US" sz="3200"/>
              <a:t>❌</a:t>
            </a:r>
            <a:r>
              <a:rPr lang="ja-JP" altLang="en-US" sz="3200" b="1"/>
              <a:t>仮想空間（アバター）　　　</a:t>
            </a:r>
            <a:r>
              <a:rPr lang="en-US" altLang="ja-JP" sz="3200" dirty="0"/>
              <a:t>⭕️</a:t>
            </a:r>
            <a:r>
              <a:rPr lang="ja-JP" altLang="en-US" sz="3200" b="1"/>
              <a:t>現実世界（人型ロボット）</a:t>
            </a:r>
            <a:endParaRPr lang="en-US" altLang="ja-JP" sz="3200" b="1" dirty="0"/>
          </a:p>
          <a:p>
            <a:pPr marL="0" indent="0">
              <a:buNone/>
            </a:pPr>
            <a:r>
              <a:rPr lang="ja-JP" altLang="en-US"/>
              <a:t>　　　　　　　　　　　</a:t>
            </a:r>
            <a:endParaRPr lang="en-US" altLang="ja-JP" dirty="0"/>
          </a:p>
        </p:txBody>
      </p:sp>
      <p:sp>
        <p:nvSpPr>
          <p:cNvPr id="4" name="右矢印 3">
            <a:extLst>
              <a:ext uri="{FF2B5EF4-FFF2-40B4-BE49-F238E27FC236}">
                <a16:creationId xmlns:a16="http://schemas.microsoft.com/office/drawing/2014/main" id="{BAE16F28-0A6C-3B77-39EA-687CDB8D200B}"/>
              </a:ext>
            </a:extLst>
          </p:cNvPr>
          <p:cNvSpPr/>
          <p:nvPr/>
        </p:nvSpPr>
        <p:spPr>
          <a:xfrm>
            <a:off x="5231219" y="4486940"/>
            <a:ext cx="723014" cy="829338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F1E8CEF-FAE7-67BE-E0C6-3F48E0B4D204}"/>
              </a:ext>
            </a:extLst>
          </p:cNvPr>
          <p:cNvSpPr txBox="1"/>
          <p:nvPr/>
        </p:nvSpPr>
        <p:spPr>
          <a:xfrm>
            <a:off x="2222205" y="5846544"/>
            <a:ext cx="8761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600" b="1" u="sng">
                <a:solidFill>
                  <a:schemeClr val="accent6">
                    <a:lumMod val="75000"/>
                  </a:schemeClr>
                </a:solidFill>
              </a:rPr>
              <a:t>人間とロボットの共生を目指す</a:t>
            </a:r>
          </a:p>
        </p:txBody>
      </p:sp>
    </p:spTree>
    <p:extLst>
      <p:ext uri="{BB962C8B-B14F-4D97-AF65-F5344CB8AC3E}">
        <p14:creationId xmlns:p14="http://schemas.microsoft.com/office/powerpoint/2010/main" val="3298965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27FB88-DF35-6600-757A-04AF5475B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誰を対象にするのか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ABE7112-F4F9-956A-BF31-C9C5C6C828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ja-JP" altLang="en-US"/>
              <a:t>対象は故人に関係する人のみに限定する</a:t>
            </a: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r>
              <a:rPr lang="ja-JP" altLang="en-US"/>
              <a:t>遺族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/>
              <a:t>　→血が繋がっている人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/>
              <a:t>友人や恋人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/>
              <a:t>　→血が繋がっていない人</a:t>
            </a: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</p:txBody>
      </p:sp>
      <p:sp>
        <p:nvSpPr>
          <p:cNvPr id="18" name="右矢印 17">
            <a:extLst>
              <a:ext uri="{FF2B5EF4-FFF2-40B4-BE49-F238E27FC236}">
                <a16:creationId xmlns:a16="http://schemas.microsoft.com/office/drawing/2014/main" id="{3CF383D0-DC9F-3EAA-8953-D08240629C47}"/>
              </a:ext>
            </a:extLst>
          </p:cNvPr>
          <p:cNvSpPr/>
          <p:nvPr/>
        </p:nvSpPr>
        <p:spPr>
          <a:xfrm>
            <a:off x="5156791" y="4082902"/>
            <a:ext cx="1158949" cy="64858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円/楕円 18">
            <a:extLst>
              <a:ext uri="{FF2B5EF4-FFF2-40B4-BE49-F238E27FC236}">
                <a16:creationId xmlns:a16="http://schemas.microsoft.com/office/drawing/2014/main" id="{A87640AB-6873-1655-6D2B-6E4176BD090E}"/>
              </a:ext>
            </a:extLst>
          </p:cNvPr>
          <p:cNvSpPr/>
          <p:nvPr/>
        </p:nvSpPr>
        <p:spPr>
          <a:xfrm>
            <a:off x="7217736" y="2442562"/>
            <a:ext cx="4136064" cy="176190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円/楕円 19">
            <a:extLst>
              <a:ext uri="{FF2B5EF4-FFF2-40B4-BE49-F238E27FC236}">
                <a16:creationId xmlns:a16="http://schemas.microsoft.com/office/drawing/2014/main" id="{D369AD35-8804-FCE1-1CCB-90D92ADC6642}"/>
              </a:ext>
            </a:extLst>
          </p:cNvPr>
          <p:cNvSpPr/>
          <p:nvPr/>
        </p:nvSpPr>
        <p:spPr>
          <a:xfrm>
            <a:off x="7217736" y="4483358"/>
            <a:ext cx="4136064" cy="176190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49AFE3D3-5F93-31D8-20FB-543C97866E92}"/>
              </a:ext>
            </a:extLst>
          </p:cNvPr>
          <p:cNvSpPr txBox="1"/>
          <p:nvPr/>
        </p:nvSpPr>
        <p:spPr>
          <a:xfrm>
            <a:off x="8387317" y="3000347"/>
            <a:ext cx="20113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大切な人を亡くした人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4D1C49F4-06E9-0FFF-2487-C7A3606E2061}"/>
              </a:ext>
            </a:extLst>
          </p:cNvPr>
          <p:cNvSpPr txBox="1"/>
          <p:nvPr/>
        </p:nvSpPr>
        <p:spPr>
          <a:xfrm>
            <a:off x="8003215" y="5041143"/>
            <a:ext cx="25651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もう一度，故人と生活したい人</a:t>
            </a:r>
          </a:p>
        </p:txBody>
      </p:sp>
    </p:spTree>
    <p:extLst>
      <p:ext uri="{BB962C8B-B14F-4D97-AF65-F5344CB8AC3E}">
        <p14:creationId xmlns:p14="http://schemas.microsoft.com/office/powerpoint/2010/main" val="2400617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9E230B-FF21-DF6F-E74B-9F4F7C175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ロボットの概要</a:t>
            </a:r>
          </a:p>
        </p:txBody>
      </p:sp>
      <p:pic>
        <p:nvPicPr>
          <p:cNvPr id="5" name="コンテンツ プレースホルダー 4" descr="線画 が含まれている画像&#10;&#10;自動的に生成された説明">
            <a:extLst>
              <a:ext uri="{FF2B5EF4-FFF2-40B4-BE49-F238E27FC236}">
                <a16:creationId xmlns:a16="http://schemas.microsoft.com/office/drawing/2014/main" id="{A5DB76E2-4478-0E67-44A9-1C1EA76CE3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368" y="1668175"/>
            <a:ext cx="3715295" cy="4956532"/>
          </a:xfr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AEB2C591-8BA3-DE2B-6ECA-FE3BB7023D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3228" y="1509844"/>
            <a:ext cx="3715295" cy="4956532"/>
          </a:xfrm>
          <a:prstGeom prst="rect">
            <a:avLst/>
          </a:prstGeom>
        </p:spPr>
      </p:pic>
      <p:sp>
        <p:nvSpPr>
          <p:cNvPr id="8" name="右矢印吹き出し 7">
            <a:extLst>
              <a:ext uri="{FF2B5EF4-FFF2-40B4-BE49-F238E27FC236}">
                <a16:creationId xmlns:a16="http://schemas.microsoft.com/office/drawing/2014/main" id="{D22C7527-185D-E029-1144-9D5468C45DFB}"/>
              </a:ext>
            </a:extLst>
          </p:cNvPr>
          <p:cNvSpPr/>
          <p:nvPr/>
        </p:nvSpPr>
        <p:spPr>
          <a:xfrm>
            <a:off x="7041454" y="1642284"/>
            <a:ext cx="2369127" cy="1182361"/>
          </a:xfrm>
          <a:prstGeom prst="rightArrowCallou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右矢印吹き出し 8">
            <a:extLst>
              <a:ext uri="{FF2B5EF4-FFF2-40B4-BE49-F238E27FC236}">
                <a16:creationId xmlns:a16="http://schemas.microsoft.com/office/drawing/2014/main" id="{4838C677-8A89-6AB9-7ABD-3E353099A334}"/>
              </a:ext>
            </a:extLst>
          </p:cNvPr>
          <p:cNvSpPr/>
          <p:nvPr/>
        </p:nvSpPr>
        <p:spPr>
          <a:xfrm>
            <a:off x="6616122" y="3834861"/>
            <a:ext cx="2457607" cy="1071984"/>
          </a:xfrm>
          <a:prstGeom prst="rightArrowCallou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右矢印吹き出し 9">
            <a:extLst>
              <a:ext uri="{FF2B5EF4-FFF2-40B4-BE49-F238E27FC236}">
                <a16:creationId xmlns:a16="http://schemas.microsoft.com/office/drawing/2014/main" id="{788A0762-E78A-54E2-AEF2-106A89204633}"/>
              </a:ext>
            </a:extLst>
          </p:cNvPr>
          <p:cNvSpPr/>
          <p:nvPr/>
        </p:nvSpPr>
        <p:spPr>
          <a:xfrm>
            <a:off x="7213145" y="5640914"/>
            <a:ext cx="2358559" cy="851961"/>
          </a:xfrm>
          <a:prstGeom prst="rightArrowCallou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右矢印吹き出し 10">
            <a:extLst>
              <a:ext uri="{FF2B5EF4-FFF2-40B4-BE49-F238E27FC236}">
                <a16:creationId xmlns:a16="http://schemas.microsoft.com/office/drawing/2014/main" id="{D79D8173-13D5-9DC9-820F-021636918C32}"/>
              </a:ext>
            </a:extLst>
          </p:cNvPr>
          <p:cNvSpPr/>
          <p:nvPr/>
        </p:nvSpPr>
        <p:spPr>
          <a:xfrm rot="10800000">
            <a:off x="2392282" y="1321515"/>
            <a:ext cx="2369127" cy="1454727"/>
          </a:xfrm>
          <a:prstGeom prst="rightArrowCallou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右矢印吹き出し 11">
            <a:extLst>
              <a:ext uri="{FF2B5EF4-FFF2-40B4-BE49-F238E27FC236}">
                <a16:creationId xmlns:a16="http://schemas.microsoft.com/office/drawing/2014/main" id="{C16D611D-E2A8-C0DA-78CC-51B6EB805952}"/>
              </a:ext>
            </a:extLst>
          </p:cNvPr>
          <p:cNvSpPr/>
          <p:nvPr/>
        </p:nvSpPr>
        <p:spPr>
          <a:xfrm rot="10800000">
            <a:off x="2534925" y="3260747"/>
            <a:ext cx="2369127" cy="1454727"/>
          </a:xfrm>
          <a:prstGeom prst="rightArrowCallou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7B56A418-F508-FA13-F812-387CD0BE7B88}"/>
              </a:ext>
            </a:extLst>
          </p:cNvPr>
          <p:cNvSpPr txBox="1"/>
          <p:nvPr/>
        </p:nvSpPr>
        <p:spPr>
          <a:xfrm>
            <a:off x="3363442" y="1864133"/>
            <a:ext cx="17871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/>
              <a:t>髪（かつら）</a:t>
            </a:r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F83EF1E2-4574-EA4D-0514-6786B79923A4}"/>
              </a:ext>
            </a:extLst>
          </p:cNvPr>
          <p:cNvSpPr txBox="1"/>
          <p:nvPr/>
        </p:nvSpPr>
        <p:spPr>
          <a:xfrm>
            <a:off x="3826101" y="3803444"/>
            <a:ext cx="17871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服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3239F7EF-86B4-779A-FC9D-F7E40C2FE419}"/>
              </a:ext>
            </a:extLst>
          </p:cNvPr>
          <p:cNvSpPr txBox="1"/>
          <p:nvPr/>
        </p:nvSpPr>
        <p:spPr>
          <a:xfrm>
            <a:off x="7120669" y="1968941"/>
            <a:ext cx="17871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人間の表情を</a:t>
            </a:r>
            <a:endParaRPr kumimoji="1" lang="en-US" altLang="ja-JP" dirty="0"/>
          </a:p>
          <a:p>
            <a:r>
              <a:rPr kumimoji="1" lang="ja-JP" altLang="en-US"/>
              <a:t>似せた顔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3F2E8912-0E35-8264-6BC2-BF55B451DAE3}"/>
              </a:ext>
            </a:extLst>
          </p:cNvPr>
          <p:cNvSpPr txBox="1"/>
          <p:nvPr/>
        </p:nvSpPr>
        <p:spPr>
          <a:xfrm>
            <a:off x="6506584" y="4186187"/>
            <a:ext cx="17871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人間を似せた手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7CDF7F78-0B8E-0907-B9C5-9DD69016121C}"/>
              </a:ext>
            </a:extLst>
          </p:cNvPr>
          <p:cNvSpPr txBox="1"/>
          <p:nvPr/>
        </p:nvSpPr>
        <p:spPr>
          <a:xfrm>
            <a:off x="7074203" y="5882228"/>
            <a:ext cx="17871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人間を似せた足</a:t>
            </a:r>
          </a:p>
        </p:txBody>
      </p:sp>
    </p:spTree>
    <p:extLst>
      <p:ext uri="{BB962C8B-B14F-4D97-AF65-F5344CB8AC3E}">
        <p14:creationId xmlns:p14="http://schemas.microsoft.com/office/powerpoint/2010/main" val="3654458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264724-FBE3-8139-82BC-07296608B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機能１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342C281-ED9D-DE9A-884A-C21BA2B04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964917" cy="4351338"/>
          </a:xfrm>
        </p:spPr>
        <p:txBody>
          <a:bodyPr/>
          <a:lstStyle/>
          <a:p>
            <a:pPr marL="0" indent="0">
              <a:buNone/>
            </a:pPr>
            <a:r>
              <a:rPr lang="ja-JP" altLang="en-US"/>
              <a:t>身長・体重：故人と同じ</a:t>
            </a: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lang="ja-JP" altLang="en-US"/>
              <a:t>皮膚：顔，両手，両足，その他露出部分はシリコン製の素材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/>
              <a:t>頭部：目の片側にカメラ，両耳と後頭部にマイク，口にスピーカー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/>
              <a:t>両手：手のひらに触覚センサ，それぞれの指に関節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/>
              <a:t>両足：足の裏に圧力センサ</a:t>
            </a: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lang="ja-JP" altLang="en-US"/>
              <a:t>人間に似せるため，ロボットの体温は約３６℃</a:t>
            </a: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038674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D43756-6395-A663-610E-B5E9F15A6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機能２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5631616-5FC4-21C1-1862-12334E3594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/>
              <a:t>生前に記録した仕草や言葉のくせなどをデータベースに記録し，それを利用する．</a:t>
            </a:r>
            <a:endParaRPr kumimoji="1" lang="en-US" altLang="ja-JP" dirty="0"/>
          </a:p>
          <a:p>
            <a:r>
              <a:rPr lang="ja-JP" altLang="en-US"/>
              <a:t>データは生前の時の動画や，スマホなどの使用履歴などから得る．</a:t>
            </a:r>
            <a:endParaRPr lang="en-US" altLang="ja-JP" dirty="0"/>
          </a:p>
          <a:p>
            <a:r>
              <a:rPr kumimoji="1" lang="ja-JP" altLang="en-US"/>
              <a:t>見た目はオーダーメイドで作る．</a:t>
            </a:r>
            <a:endParaRPr kumimoji="1" lang="en-US" altLang="ja-JP" dirty="0"/>
          </a:p>
          <a:p>
            <a:endParaRPr kumimoji="1" lang="en-US" altLang="ja-JP" dirty="0"/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01340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EE1EB22-033B-EF24-5F44-3A99D7E1B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導入したことによる影響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E0468C0-5301-B126-AF84-FCC2B3DF6A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/>
              <a:t>大切な人の死の悲しみを軽減することができる．</a:t>
            </a:r>
            <a:endParaRPr kumimoji="1" lang="en-US" altLang="ja-JP" dirty="0"/>
          </a:p>
          <a:p>
            <a:endParaRPr lang="en-US" altLang="ja-JP" dirty="0"/>
          </a:p>
          <a:p>
            <a:r>
              <a:rPr lang="ja-JP" altLang="en-US"/>
              <a:t>第二の人生をロボットと楽しむことができる．</a:t>
            </a:r>
            <a:endParaRPr lang="en-US" altLang="ja-JP" dirty="0"/>
          </a:p>
          <a:p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1097533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66978F-ABA0-80B3-1E4A-CAE521E52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実験の感想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CADAB15-A856-EF34-1833-74290FACB8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/>
              <a:t>今回の実験で初めて人型ロボットを操作した．実験手順１から６までは容易に実験を進めることができた．しかし，それからの手順は個人的に難しい内容であった．今回の実験で人型ロボットを動かす楽しさを実感できた．</a:t>
            </a:r>
          </a:p>
        </p:txBody>
      </p:sp>
    </p:spTree>
    <p:extLst>
      <p:ext uri="{BB962C8B-B14F-4D97-AF65-F5344CB8AC3E}">
        <p14:creationId xmlns:p14="http://schemas.microsoft.com/office/powerpoint/2010/main" val="25086690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7694</TotalTime>
  <Words>416</Words>
  <Application>Microsoft Macintosh PowerPoint</Application>
  <PresentationFormat>ワイド画面</PresentationFormat>
  <Paragraphs>59</Paragraphs>
  <Slides>9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3" baseType="lpstr">
      <vt:lpstr>游ゴシック</vt:lpstr>
      <vt:lpstr>游ゴシック Light</vt:lpstr>
      <vt:lpstr>Arial</vt:lpstr>
      <vt:lpstr>Office テーマ</vt:lpstr>
      <vt:lpstr>故人再生ロボット</vt:lpstr>
      <vt:lpstr>故人再生ロボットとは</vt:lpstr>
      <vt:lpstr>現在での類似製品</vt:lpstr>
      <vt:lpstr>誰を対象にするのか</vt:lpstr>
      <vt:lpstr>ロボットの概要</vt:lpstr>
      <vt:lpstr>機能１</vt:lpstr>
      <vt:lpstr>機能２</vt:lpstr>
      <vt:lpstr>導入したことによる影響</vt:lpstr>
      <vt:lpstr>実験の感想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來間 空_米子学生</dc:creator>
  <cp:lastModifiedBy>來間 空_米子学生</cp:lastModifiedBy>
  <cp:revision>4</cp:revision>
  <dcterms:created xsi:type="dcterms:W3CDTF">2024-12-03T04:45:08Z</dcterms:created>
  <dcterms:modified xsi:type="dcterms:W3CDTF">2024-12-09T08:41:22Z</dcterms:modified>
</cp:coreProperties>
</file>